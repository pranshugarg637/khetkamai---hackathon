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embeddedFontLst>
    <p:embeddedFont>
      <p:font typeface="DM Sans" pitchFamily="34" charset="0"/>
      <p:regular r:id="rId13"/>
      <p:bold r:id="rId14"/>
    </p:embeddedFont>
    <p:embeddedFont>
      <p:font typeface="JetBrains Mono" panose="02000009000000000000" pitchFamily="49"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Team Vibe Coders from BVCOE. Our project is KhetKamai: turn what you burn into what you earn. It is a WhatsApp-first marketplace that lets a farmer sell paddy straw to processors with one photo, instead of burning it. We have a working prototype that we will show on the How it works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Around 90 million tonnes of crop residue are burned in India every year. Take Rajbir in Kaithal: 2 acres of paddy and only 10 to 20 days before he must sow wheat. Nobody calls to buy his straw, he does not know a fair price, and transport costs more than the straw is worth. So a matchstick is the cheapest option. Burning is not the farmer's choice, it is a market failure.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KhetKamai works like booking a cab. The farmer sends a photo or a Hindi voice note on WhatsApp. AI checks the residue, he sees live buyer offers next to the local mandi rate, accepts one, and a local agent picks it up and pays him by UPI on weighing. Buyers are the industries that need straw: Bio-CNG plants, 2G ethanol refineries like the Panipat plant that uses about 2 lakh tonnes a year, and thermal power plants, which near Delhi must co-fire 5 to 10 percent biomass. Demand exists; collection from small farms is what is missing.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USP: one WhatsApp photo gets the straw graded, fairly priced and paid for by UPI. First, there is no app to download, and it is voice-first in local languages. Second, trust is built in: when the farmer accepts, the buyer pre-pays into our escrow, so his money is safe before the straw leaves the field. The agent's weighing releases the payment, and the factory weighbridge re-checks the weight, so agents cannot inflate it. Third, our village agents and clustered routes are hard to copy, because they are built on the ground.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our working prototype. On the left is Rajbir's WhatsApp chat: he sends a photo, says 'mere paas do acre parali hai', and AI grades it. His listing appears in the buyer marketplace in the middle, buyers send offers, and he sees them next to the mandi rate. When he accepts, the buyer pre-pays into escrow, and his chat says his money is already locked and safe. Our agent weighs the straw and taps confirm, which releases the payment to his UPI. Then the truck reaches the factory, and its weighbridge re-weighs the load: here 5 tonnes against the agent's 5.1, within 3 percent, so it is verified. In real life these are three devices: WhatsApp for the farmer, a web dashboard for buyers, a mobile app for agents. We show them side by side for the demo.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pilot targets, which are assumptions: 500 farmers, 2,000 tonnes kept from burning, that is about 2,900 tonnes of CO2, 3 to 5 thousand rupees extra per farmer each season, and 25 youth jobs. This maps to SDG 8 for income and jobs and SDG 9 for linking farmers to clean industry. Next: a real WhatsApp bot and vision model in Round 2, live UPI and buyer dashboard in Round 3, then a one-village pilot with two buyers. Burning isn't a farmer's choice. It's a market failure. We're building the market.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C11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C111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874520"/>
            <a:ext cx="9525000" cy="586740"/>
          </a:xfrm>
          <a:prstGeom prst="rect">
            <a:avLst/>
          </a:prstGeom>
          <a:noFill/>
          <a:ln/>
        </p:spPr>
        <p:txBody>
          <a:bodyPr wrap="square" lIns="0" tIns="0" rIns="0" bIns="0" rtlCol="0" anchor="t"/>
          <a:lstStyle>
            <a:lvl1pPr algn="l" indent="0" marL="0">
              <a:lnSpc>
                <a:spcPct val="115000"/>
              </a:lnSpc>
              <a:buNone/>
              <a:defRPr lang="en-US" sz="4200" dirty="0">
                <a:solidFill>
                  <a:srgbClr val="E9F1F0"/>
                </a:solidFill>
                <a:latin typeface="DM Sans" pitchFamily="34" charset="0"/>
                <a:ea typeface="DM Sans" pitchFamily="34" charset="-122"/>
                <a:cs typeface="DM Sans" pitchFamily="34" charset="-120"/>
              </a:defRPr>
            </a:lvl1pPr>
          </a:lstStyle>
          <a:p>
            <a:pPr algn="l" indent="0" marL="0">
              <a:lnSpc>
                <a:spcPct val="115000"/>
              </a:lnSpc>
              <a:buNone/>
            </a:pPr>
            <a:endParaRPr lang="en-US" sz="4200" dirty="0"/>
          </a:p>
        </p:txBody>
      </p:sp>
      <p:sp>
        <p:nvSpPr>
          <p:cNvPr id="3" name="Text Placeholder 2"/>
          <p:cNvSpPr/>
          <p:nvPr>
            <p:ph idx="101" type="body"/>
          </p:nvPr>
        </p:nvSpPr>
        <p:spPr>
          <a:xfrm>
            <a:off x="812800" y="2766060"/>
            <a:ext cx="10566400" cy="3279140"/>
          </a:xfrm>
          <a:prstGeom prst="rect">
            <a:avLst/>
          </a:prstGeom>
          <a:noFill/>
          <a:ln/>
        </p:spPr>
        <p:txBody>
          <a:bodyPr wrap="square" lIns="0" tIns="0" rIns="0" bIns="0" rtlCol="0" anchor="t"/>
          <a:lstStyle>
            <a:lvl1pPr algn="l" indent="0" marL="0">
              <a:lnSpc>
                <a:spcPct val="140000"/>
              </a:lnSpc>
              <a:buNone/>
              <a:defRPr lang="en-US" sz="1600" dirty="0">
                <a:solidFill>
                  <a:srgbClr val="E9F1F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221869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TEAM PRESENTATION</a:t>
            </a:r>
            <a:endParaRPr lang="en-US" sz="1400" dirty="0"/>
          </a:p>
        </p:txBody>
      </p:sp>
      <p:sp>
        <p:nvSpPr>
          <p:cNvPr id="7" name="Text 3"/>
          <p:cNvSpPr/>
          <p:nvPr>
            <p:ph type="title"/>
          </p:nvPr>
        </p:nvSpPr>
        <p:spPr>
          <a:xfrm>
            <a:off x="812800" y="2721610"/>
            <a:ext cx="10883392" cy="1041400"/>
          </a:xfrm>
          <a:prstGeom prst="rect">
            <a:avLst/>
          </a:prstGeom>
          <a:noFill/>
          <a:ln/>
        </p:spPr>
        <p:txBody>
          <a:bodyPr wrap="square" lIns="0" tIns="0" rIns="0" bIns="0" rtlCol="0" anchor="t">
            <a:noAutofit/>
          </a:bodyPr>
          <a:lstStyle/>
          <a:p>
            <a:pPr algn="l" indent="0" marL="0">
              <a:lnSpc>
                <a:spcPts val="8000"/>
              </a:lnSpc>
              <a:buNone/>
            </a:pPr>
            <a:r>
              <a:rPr lang="en-US" sz="8000" b="1" i="0" spc="-200" kern="0" dirty="0">
                <a:solidFill>
                  <a:srgbClr val="E9F1F0"/>
                </a:solidFill>
                <a:latin typeface="DM Sans" pitchFamily="34" charset="0"/>
                <a:ea typeface="DM Sans" pitchFamily="34" charset="-122"/>
                <a:cs typeface="DM Sans" pitchFamily="34" charset="-120"/>
              </a:rPr>
              <a:t>Vibe Coders</a:t>
            </a:r>
            <a:endParaRPr lang="en-US" sz="8000" dirty="0"/>
          </a:p>
        </p:txBody>
      </p:sp>
      <p:sp>
        <p:nvSpPr>
          <p:cNvPr id="8" name="Text 4"/>
          <p:cNvSpPr/>
          <p:nvPr/>
        </p:nvSpPr>
        <p:spPr>
          <a:xfrm>
            <a:off x="812800" y="3991610"/>
            <a:ext cx="9692640" cy="731520"/>
          </a:xfrm>
          <a:prstGeom prst="rect">
            <a:avLst/>
          </a:prstGeom>
          <a:noFill/>
          <a:ln/>
        </p:spPr>
        <p:txBody>
          <a:bodyPr wrap="square" lIns="0" tIns="0" rIns="0" bIns="0" rtlCol="0" anchor="t">
            <a:noAutofit/>
          </a:bodyPr>
          <a:lstStyle/>
          <a:p>
            <a:pPr algn="l" indent="0" marL="0">
              <a:lnSpc>
                <a:spcPts val="2860"/>
              </a:lnSpc>
              <a:buNone/>
            </a:pPr>
            <a:r>
              <a:rPr lang="en-US" sz="2200" dirty="0">
                <a:solidFill>
                  <a:srgbClr val="9DB0B5"/>
                </a:solidFill>
                <a:latin typeface="DM Sans" pitchFamily="34" charset="0"/>
                <a:ea typeface="DM Sans" pitchFamily="34" charset="-122"/>
                <a:cs typeface="DM Sans" pitchFamily="34" charset="-120"/>
              </a:rPr>
              <a:t>KhetKamai: a WhatsApp-first marketplace that pays farmers for crop residue instead of burning it.</a:t>
            </a:r>
            <a:endParaRPr lang="en-US" sz="2200" dirty="0"/>
          </a:p>
        </p:txBody>
      </p:sp>
      <p:sp>
        <p:nvSpPr>
          <p:cNvPr id="9" name="Text 5"/>
          <p:cNvSpPr/>
          <p:nvPr/>
        </p:nvSpPr>
        <p:spPr>
          <a:xfrm>
            <a:off x="812800" y="4937760"/>
            <a:ext cx="10883392" cy="30988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E9F1F0"/>
                </a:solidFill>
                <a:latin typeface="DM Sans" pitchFamily="34" charset="0"/>
                <a:ea typeface="DM Sans" pitchFamily="34" charset="-122"/>
                <a:cs typeface="DM Sans" pitchFamily="34" charset="-120"/>
              </a:rPr>
              <a:t>Sparsh Bhardwaj · Aditya Tyagi · Pranshu Garg · Abhay Pathak</a:t>
            </a:r>
            <a:endParaRPr lang="en-US" sz="1600" dirty="0"/>
          </a:p>
        </p:txBody>
      </p:sp>
      <p:sp>
        <p:nvSpPr>
          <p:cNvPr id="10" name="Text 6"/>
          <p:cNvSpPr/>
          <p:nvPr/>
        </p:nvSpPr>
        <p:spPr>
          <a:xfrm>
            <a:off x="812800" y="6238240"/>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1" name="Text 7"/>
          <p:cNvSpPr/>
          <p:nvPr/>
        </p:nvSpPr>
        <p:spPr>
          <a:xfrm>
            <a:off x="9804400" y="6238240"/>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01 / 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01 — THE PROBLEM</a:t>
            </a:r>
            <a:endParaRPr lang="en-US" sz="1400" dirty="0"/>
          </a:p>
        </p:txBody>
      </p:sp>
      <p:sp>
        <p:nvSpPr>
          <p:cNvPr id="7" name="Text 3"/>
          <p:cNvSpPr/>
          <p:nvPr>
            <p:ph type="title"/>
          </p:nvPr>
        </p:nvSpPr>
        <p:spPr>
          <a:xfrm>
            <a:off x="812800" y="1874520"/>
            <a:ext cx="9810750" cy="1198880"/>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Farmers burn parali because no buyer, price or truck reaches them.</a:t>
            </a:r>
            <a:endParaRPr lang="en-US" sz="4200" dirty="0"/>
          </a:p>
        </p:txBody>
      </p:sp>
      <p:sp>
        <p:nvSpPr>
          <p:cNvPr id="8" name="Shape 4"/>
          <p:cNvSpPr/>
          <p:nvPr/>
        </p:nvSpPr>
        <p:spPr>
          <a:xfrm>
            <a:off x="815975" y="3931920"/>
            <a:ext cx="3380264" cy="1901952"/>
          </a:xfrm>
          <a:prstGeom prst="roundRect">
            <a:avLst>
              <a:gd name="adj" fmla="val 7647"/>
            </a:avLst>
          </a:prstGeom>
          <a:solidFill>
            <a:srgbClr val="121A1F"/>
          </a:solidFill>
          <a:ln w="6350">
            <a:solidFill>
              <a:srgbClr val="26343B"/>
            </a:solidFill>
            <a:prstDash val="solid"/>
          </a:ln>
        </p:spPr>
      </p:sp>
      <p:sp>
        <p:nvSpPr>
          <p:cNvPr id="9" name="Text 5"/>
          <p:cNvSpPr/>
          <p:nvPr/>
        </p:nvSpPr>
        <p:spPr>
          <a:xfrm>
            <a:off x="1122680" y="4242816"/>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Who</a:t>
            </a:r>
            <a:endParaRPr lang="en-US" sz="2200" dirty="0"/>
          </a:p>
        </p:txBody>
      </p:sp>
      <p:sp>
        <p:nvSpPr>
          <p:cNvPr id="10" name="Text 6"/>
          <p:cNvSpPr/>
          <p:nvPr/>
        </p:nvSpPr>
        <p:spPr>
          <a:xfrm>
            <a:off x="1122680" y="4681728"/>
            <a:ext cx="2849859"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Small farmers in Haryana and Punjab, like Rajbir: 2 acres, 12 days to sow.</a:t>
            </a:r>
            <a:endParaRPr lang="en-US" sz="1600" dirty="0"/>
          </a:p>
        </p:txBody>
      </p:sp>
      <p:sp>
        <p:nvSpPr>
          <p:cNvPr id="11" name="Shape 7"/>
          <p:cNvSpPr/>
          <p:nvPr/>
        </p:nvSpPr>
        <p:spPr>
          <a:xfrm>
            <a:off x="4405789" y="3931920"/>
            <a:ext cx="3380343" cy="1901952"/>
          </a:xfrm>
          <a:prstGeom prst="roundRect">
            <a:avLst>
              <a:gd name="adj" fmla="val 7647"/>
            </a:avLst>
          </a:prstGeom>
          <a:solidFill>
            <a:srgbClr val="121A1F"/>
          </a:solidFill>
          <a:ln w="6350">
            <a:solidFill>
              <a:srgbClr val="26343B"/>
            </a:solidFill>
            <a:prstDash val="solid"/>
          </a:ln>
        </p:spPr>
      </p:sp>
      <p:sp>
        <p:nvSpPr>
          <p:cNvPr id="12" name="Text 8"/>
          <p:cNvSpPr/>
          <p:nvPr/>
        </p:nvSpPr>
        <p:spPr>
          <a:xfrm>
            <a:off x="4712494"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Why it matters</a:t>
            </a:r>
            <a:endParaRPr lang="en-US" sz="2200" dirty="0"/>
          </a:p>
        </p:txBody>
      </p:sp>
      <p:sp>
        <p:nvSpPr>
          <p:cNvPr id="13" name="Text 9"/>
          <p:cNvSpPr/>
          <p:nvPr/>
        </p:nvSpPr>
        <p:spPr>
          <a:xfrm>
            <a:off x="4712494"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~90 Mt burned in India every year: smog, lost soil nutrients and ₹0 earned.</a:t>
            </a:r>
            <a:endParaRPr lang="en-US" sz="1600" dirty="0"/>
          </a:p>
        </p:txBody>
      </p:sp>
      <p:sp>
        <p:nvSpPr>
          <p:cNvPr id="14" name="Shape 10"/>
          <p:cNvSpPr/>
          <p:nvPr/>
        </p:nvSpPr>
        <p:spPr>
          <a:xfrm>
            <a:off x="7995682" y="3931920"/>
            <a:ext cx="3380343" cy="1901952"/>
          </a:xfrm>
          <a:prstGeom prst="roundRect">
            <a:avLst>
              <a:gd name="adj" fmla="val 7647"/>
            </a:avLst>
          </a:prstGeom>
          <a:solidFill>
            <a:srgbClr val="121A1F"/>
          </a:solidFill>
          <a:ln w="6350">
            <a:solidFill>
              <a:srgbClr val="26343B"/>
            </a:solidFill>
            <a:prstDash val="solid"/>
          </a:ln>
        </p:spPr>
      </p:sp>
      <p:sp>
        <p:nvSpPr>
          <p:cNvPr id="15" name="Text 11"/>
          <p:cNvSpPr/>
          <p:nvPr/>
        </p:nvSpPr>
        <p:spPr>
          <a:xfrm>
            <a:off x="8302387"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The gap</a:t>
            </a:r>
            <a:endParaRPr lang="en-US" sz="2200" dirty="0"/>
          </a:p>
        </p:txBody>
      </p:sp>
      <p:sp>
        <p:nvSpPr>
          <p:cNvPr id="16" name="Text 12"/>
          <p:cNvSpPr/>
          <p:nvPr/>
        </p:nvSpPr>
        <p:spPr>
          <a:xfrm>
            <a:off x="8302387"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No visible buyers, no trusted price, and transport costs more than the straw.</a:t>
            </a:r>
            <a:endParaRPr lang="en-US" sz="1600" dirty="0"/>
          </a:p>
        </p:txBody>
      </p:sp>
      <p:sp>
        <p:nvSpPr>
          <p:cNvPr id="17" name="Text 13"/>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8" name="Text 1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02 / 06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1F"/>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02 — OUR IDEA</a:t>
            </a:r>
            <a:endParaRPr lang="en-US" sz="1400" dirty="0"/>
          </a:p>
        </p:txBody>
      </p:sp>
      <p:sp>
        <p:nvSpPr>
          <p:cNvPr id="7" name="Text 3"/>
          <p:cNvSpPr/>
          <p:nvPr>
            <p:ph type="title"/>
          </p:nvPr>
        </p:nvSpPr>
        <p:spPr>
          <a:xfrm>
            <a:off x="812800" y="1874520"/>
            <a:ext cx="11379200" cy="1197864"/>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KhetKamai turns parali into income: one WhatsApp photo to UPI payment.</a:t>
            </a:r>
            <a:endParaRPr lang="en-US" sz="4200" dirty="0"/>
          </a:p>
        </p:txBody>
      </p:sp>
      <p:sp>
        <p:nvSpPr>
          <p:cNvPr id="8" name="Shape 4"/>
          <p:cNvSpPr/>
          <p:nvPr/>
        </p:nvSpPr>
        <p:spPr>
          <a:xfrm>
            <a:off x="815975" y="3931920"/>
            <a:ext cx="3380264" cy="1901952"/>
          </a:xfrm>
          <a:prstGeom prst="roundRect">
            <a:avLst>
              <a:gd name="adj" fmla="val 7647"/>
            </a:avLst>
          </a:prstGeom>
          <a:solidFill>
            <a:srgbClr val="0C1115"/>
          </a:solidFill>
          <a:ln w="6350">
            <a:solidFill>
              <a:srgbClr val="26343B"/>
            </a:solidFill>
            <a:prstDash val="solid"/>
          </a:ln>
        </p:spPr>
      </p:sp>
      <p:sp>
        <p:nvSpPr>
          <p:cNvPr id="9" name="Text 5"/>
          <p:cNvSpPr/>
          <p:nvPr/>
        </p:nvSpPr>
        <p:spPr>
          <a:xfrm>
            <a:off x="1122680" y="4242816"/>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What it does</a:t>
            </a:r>
            <a:endParaRPr lang="en-US" sz="2200" dirty="0"/>
          </a:p>
        </p:txBody>
      </p:sp>
      <p:sp>
        <p:nvSpPr>
          <p:cNvPr id="10" name="Text 6"/>
          <p:cNvSpPr/>
          <p:nvPr/>
        </p:nvSpPr>
        <p:spPr>
          <a:xfrm>
            <a:off x="1122680" y="4681728"/>
            <a:ext cx="2849859"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AI grades straw from a photo, shows live offers vs mandi, books a pickup.</a:t>
            </a:r>
            <a:endParaRPr lang="en-US" sz="1600" dirty="0"/>
          </a:p>
        </p:txBody>
      </p:sp>
      <p:sp>
        <p:nvSpPr>
          <p:cNvPr id="11" name="Shape 7"/>
          <p:cNvSpPr/>
          <p:nvPr/>
        </p:nvSpPr>
        <p:spPr>
          <a:xfrm>
            <a:off x="4405789" y="3931920"/>
            <a:ext cx="3380343" cy="1901952"/>
          </a:xfrm>
          <a:prstGeom prst="roundRect">
            <a:avLst>
              <a:gd name="adj" fmla="val 7647"/>
            </a:avLst>
          </a:prstGeom>
          <a:solidFill>
            <a:srgbClr val="0C1115"/>
          </a:solidFill>
          <a:ln w="6350">
            <a:solidFill>
              <a:srgbClr val="26343B"/>
            </a:solidFill>
            <a:prstDash val="solid"/>
          </a:ln>
        </p:spPr>
      </p:sp>
      <p:sp>
        <p:nvSpPr>
          <p:cNvPr id="12" name="Text 8"/>
          <p:cNvSpPr/>
          <p:nvPr/>
        </p:nvSpPr>
        <p:spPr>
          <a:xfrm>
            <a:off x="4712494"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Who it is for</a:t>
            </a:r>
            <a:endParaRPr lang="en-US" sz="2200" dirty="0"/>
          </a:p>
        </p:txBody>
      </p:sp>
      <p:sp>
        <p:nvSpPr>
          <p:cNvPr id="13" name="Text 9"/>
          <p:cNvSpPr/>
          <p:nvPr/>
        </p:nvSpPr>
        <p:spPr>
          <a:xfrm>
            <a:off x="4712494"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Farmers, Bio-CNG, 2G ethanol and power plants, and rural youth agents.</a:t>
            </a:r>
            <a:endParaRPr lang="en-US" sz="1600" dirty="0"/>
          </a:p>
        </p:txBody>
      </p:sp>
      <p:sp>
        <p:nvSpPr>
          <p:cNvPr id="14" name="Shape 10"/>
          <p:cNvSpPr/>
          <p:nvPr/>
        </p:nvSpPr>
        <p:spPr>
          <a:xfrm>
            <a:off x="7995682" y="3931920"/>
            <a:ext cx="3380343" cy="1901952"/>
          </a:xfrm>
          <a:prstGeom prst="roundRect">
            <a:avLst>
              <a:gd name="adj" fmla="val 7647"/>
            </a:avLst>
          </a:prstGeom>
          <a:solidFill>
            <a:srgbClr val="0C1115"/>
          </a:solidFill>
          <a:ln w="6350">
            <a:solidFill>
              <a:srgbClr val="26343B"/>
            </a:solidFill>
            <a:prstDash val="solid"/>
          </a:ln>
        </p:spPr>
      </p:sp>
      <p:sp>
        <p:nvSpPr>
          <p:cNvPr id="15" name="Text 11"/>
          <p:cNvSpPr/>
          <p:nvPr/>
        </p:nvSpPr>
        <p:spPr>
          <a:xfrm>
            <a:off x="8302387" y="4242816"/>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E3E0"/>
                </a:solidFill>
                <a:latin typeface="DM Sans" pitchFamily="34" charset="0"/>
                <a:ea typeface="DM Sans" pitchFamily="34" charset="-122"/>
                <a:cs typeface="DM Sans" pitchFamily="34" charset="-120"/>
              </a:rPr>
              <a:t>Why now</a:t>
            </a:r>
            <a:endParaRPr lang="en-US" sz="2200" dirty="0"/>
          </a:p>
        </p:txBody>
      </p:sp>
      <p:sp>
        <p:nvSpPr>
          <p:cNvPr id="16" name="Text 12"/>
          <p:cNvSpPr/>
          <p:nvPr/>
        </p:nvSpPr>
        <p:spPr>
          <a:xfrm>
            <a:off x="8302387" y="4681728"/>
            <a:ext cx="2849941" cy="96012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Burning is fined, and power plants near Delhi must now burn biomass with coal.</a:t>
            </a:r>
            <a:endParaRPr lang="en-US" sz="1600" dirty="0"/>
          </a:p>
        </p:txBody>
      </p:sp>
      <p:sp>
        <p:nvSpPr>
          <p:cNvPr id="17" name="Text 13"/>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8" name="Text 14"/>
          <p:cNvSpPr/>
          <p:nvPr/>
        </p:nvSpPr>
        <p:spPr>
          <a:xfrm>
            <a:off x="9804400" y="6238241"/>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03 / 06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03 — UNIQUENESS AND USP</a:t>
            </a:r>
            <a:endParaRPr lang="en-US" sz="1400" dirty="0"/>
          </a:p>
        </p:txBody>
      </p:sp>
      <p:sp>
        <p:nvSpPr>
          <p:cNvPr id="7" name="Text 3"/>
          <p:cNvSpPr/>
          <p:nvPr>
            <p:ph type="title"/>
          </p:nvPr>
        </p:nvSpPr>
        <p:spPr>
          <a:xfrm>
            <a:off x="812800" y="1772920"/>
            <a:ext cx="9810750" cy="612140"/>
          </a:xfrm>
          <a:prstGeom prst="rect">
            <a:avLst/>
          </a:prstGeom>
          <a:noFill/>
          <a:ln/>
        </p:spPr>
        <p:txBody>
          <a:bodyPr wrap="square" lIns="0" tIns="0" rIns="0" bIns="0" rtlCol="0" anchor="t">
            <a:norm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What makes us different.</a:t>
            </a:r>
            <a:endParaRPr lang="en-US" sz="4200" dirty="0"/>
          </a:p>
        </p:txBody>
      </p:sp>
      <p:sp>
        <p:nvSpPr>
          <p:cNvPr id="8" name="Shape 4"/>
          <p:cNvSpPr/>
          <p:nvPr/>
        </p:nvSpPr>
        <p:spPr>
          <a:xfrm>
            <a:off x="812800" y="2613661"/>
            <a:ext cx="10566400" cy="1273810"/>
          </a:xfrm>
          <a:prstGeom prst="roundRect">
            <a:avLst>
              <a:gd name="adj" fmla="val 9970"/>
            </a:avLst>
          </a:prstGeom>
          <a:solidFill>
            <a:srgbClr val="7FE3E0"/>
          </a:solidFill>
          <a:ln/>
        </p:spPr>
      </p:sp>
      <p:sp>
        <p:nvSpPr>
          <p:cNvPr id="9" name="Text 5"/>
          <p:cNvSpPr/>
          <p:nvPr/>
        </p:nvSpPr>
        <p:spPr>
          <a:xfrm>
            <a:off x="1117600" y="2918461"/>
            <a:ext cx="10255504"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0C1115"/>
                </a:solidFill>
                <a:latin typeface="JetBrains Mono" pitchFamily="49" charset="0"/>
                <a:ea typeface="JetBrains Mono" pitchFamily="49" charset="-122"/>
                <a:cs typeface="JetBrains Mono" pitchFamily="49" charset="-120"/>
              </a:rPr>
              <a:t>OUR USP</a:t>
            </a:r>
            <a:endParaRPr lang="en-US" sz="1200" dirty="0"/>
          </a:p>
        </p:txBody>
      </p:sp>
      <p:sp>
        <p:nvSpPr>
          <p:cNvPr id="10" name="Text 6"/>
          <p:cNvSpPr/>
          <p:nvPr/>
        </p:nvSpPr>
        <p:spPr>
          <a:xfrm>
            <a:off x="1117600" y="3233420"/>
            <a:ext cx="10255504" cy="374650"/>
          </a:xfrm>
          <a:prstGeom prst="rect">
            <a:avLst/>
          </a:prstGeom>
          <a:noFill/>
          <a:ln/>
        </p:spPr>
        <p:txBody>
          <a:bodyPr wrap="square" lIns="0" tIns="0" rIns="0" bIns="0" rtlCol="0" anchor="t">
            <a:noAutofit/>
          </a:bodyPr>
          <a:lstStyle/>
          <a:p>
            <a:pPr algn="l" indent="0" marL="0">
              <a:lnSpc>
                <a:spcPts val="2750"/>
              </a:lnSpc>
              <a:buNone/>
            </a:pPr>
            <a:r>
              <a:rPr lang="en-US" sz="2200" b="1" dirty="0">
                <a:solidFill>
                  <a:srgbClr val="0C1115"/>
                </a:solidFill>
                <a:latin typeface="DM Sans" pitchFamily="34" charset="0"/>
                <a:ea typeface="DM Sans" pitchFamily="34" charset="-122"/>
                <a:cs typeface="DM Sans" pitchFamily="34" charset="-120"/>
              </a:rPr>
              <a:t>One WhatsApp photo gets parali graded, priced fairly and paid by UPI.</a:t>
            </a:r>
            <a:endParaRPr lang="en-US" sz="2200" dirty="0"/>
          </a:p>
        </p:txBody>
      </p:sp>
      <p:sp>
        <p:nvSpPr>
          <p:cNvPr id="11" name="Shape 7"/>
          <p:cNvSpPr/>
          <p:nvPr/>
        </p:nvSpPr>
        <p:spPr>
          <a:xfrm>
            <a:off x="815975" y="4144645"/>
            <a:ext cx="3380264" cy="1664208"/>
          </a:xfrm>
          <a:prstGeom prst="roundRect">
            <a:avLst>
              <a:gd name="adj" fmla="val 8682"/>
            </a:avLst>
          </a:prstGeom>
          <a:solidFill>
            <a:srgbClr val="121A1F"/>
          </a:solidFill>
          <a:ln w="6350">
            <a:solidFill>
              <a:srgbClr val="26343B"/>
            </a:solidFill>
            <a:prstDash val="solid"/>
          </a:ln>
        </p:spPr>
      </p:sp>
      <p:sp>
        <p:nvSpPr>
          <p:cNvPr id="12" name="Text 8"/>
          <p:cNvSpPr/>
          <p:nvPr/>
        </p:nvSpPr>
        <p:spPr>
          <a:xfrm>
            <a:off x="1071880" y="4400550"/>
            <a:ext cx="2954507"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Zero app, voice-first</a:t>
            </a:r>
            <a:endParaRPr lang="en-US" sz="2000" dirty="0"/>
          </a:p>
        </p:txBody>
      </p:sp>
      <p:sp>
        <p:nvSpPr>
          <p:cNvPr id="13" name="Text 9"/>
          <p:cNvSpPr/>
          <p:nvPr/>
        </p:nvSpPr>
        <p:spPr>
          <a:xfrm>
            <a:off x="1071880" y="4781550"/>
            <a:ext cx="2953512"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Works on WhatsApp in Hindi now, Haryanvi and Punjabi next. No download needed.</a:t>
            </a:r>
            <a:endParaRPr lang="en-US" sz="1500" dirty="0"/>
          </a:p>
        </p:txBody>
      </p:sp>
      <p:sp>
        <p:nvSpPr>
          <p:cNvPr id="14" name="Shape 10"/>
          <p:cNvSpPr/>
          <p:nvPr/>
        </p:nvSpPr>
        <p:spPr>
          <a:xfrm>
            <a:off x="4405789" y="4144645"/>
            <a:ext cx="3380343" cy="1664208"/>
          </a:xfrm>
          <a:prstGeom prst="roundRect">
            <a:avLst>
              <a:gd name="adj" fmla="val 8682"/>
            </a:avLst>
          </a:prstGeom>
          <a:solidFill>
            <a:srgbClr val="121A1F"/>
          </a:solidFill>
          <a:ln w="6350">
            <a:solidFill>
              <a:srgbClr val="26343B"/>
            </a:solidFill>
            <a:prstDash val="solid"/>
          </a:ln>
        </p:spPr>
      </p:sp>
      <p:sp>
        <p:nvSpPr>
          <p:cNvPr id="15" name="Text 11"/>
          <p:cNvSpPr/>
          <p:nvPr/>
        </p:nvSpPr>
        <p:spPr>
          <a:xfrm>
            <a:off x="4661694" y="4400550"/>
            <a:ext cx="2954589"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Trust built in</a:t>
            </a:r>
            <a:endParaRPr lang="en-US" sz="2000" dirty="0"/>
          </a:p>
        </p:txBody>
      </p:sp>
      <p:sp>
        <p:nvSpPr>
          <p:cNvPr id="16" name="Text 12"/>
          <p:cNvSpPr/>
          <p:nvPr/>
        </p:nvSpPr>
        <p:spPr>
          <a:xfrm>
            <a:off x="4661694" y="4781550"/>
            <a:ext cx="2954589"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Buyer pre-pays into escrow, farmer is paid on weighing, factory scale re-checks.</a:t>
            </a:r>
            <a:endParaRPr lang="en-US" sz="1500" dirty="0"/>
          </a:p>
        </p:txBody>
      </p:sp>
      <p:sp>
        <p:nvSpPr>
          <p:cNvPr id="17" name="Shape 13"/>
          <p:cNvSpPr/>
          <p:nvPr/>
        </p:nvSpPr>
        <p:spPr>
          <a:xfrm>
            <a:off x="7995682" y="4144645"/>
            <a:ext cx="3380343" cy="1664208"/>
          </a:xfrm>
          <a:prstGeom prst="roundRect">
            <a:avLst>
              <a:gd name="adj" fmla="val 8682"/>
            </a:avLst>
          </a:prstGeom>
          <a:solidFill>
            <a:srgbClr val="121A1F"/>
          </a:solidFill>
          <a:ln w="6350">
            <a:solidFill>
              <a:srgbClr val="26343B"/>
            </a:solidFill>
            <a:prstDash val="solid"/>
          </a:ln>
        </p:spPr>
      </p:sp>
      <p:sp>
        <p:nvSpPr>
          <p:cNvPr id="18" name="Text 14"/>
          <p:cNvSpPr/>
          <p:nvPr/>
        </p:nvSpPr>
        <p:spPr>
          <a:xfrm>
            <a:off x="8251587" y="4400550"/>
            <a:ext cx="2954589" cy="330200"/>
          </a:xfrm>
          <a:prstGeom prst="rect">
            <a:avLst/>
          </a:prstGeom>
          <a:noFill/>
          <a:ln/>
        </p:spPr>
        <p:txBody>
          <a:bodyPr wrap="square" lIns="0" tIns="0" rIns="0" bIns="0" rtlCol="0" anchor="t">
            <a:noAutofit/>
          </a:bodyPr>
          <a:lstStyle/>
          <a:p>
            <a:pPr algn="l" indent="0" marL="0">
              <a:lnSpc>
                <a:spcPts val="2400"/>
              </a:lnSpc>
              <a:buNone/>
            </a:pPr>
            <a:r>
              <a:rPr lang="en-US" sz="2000" b="1" dirty="0">
                <a:solidFill>
                  <a:srgbClr val="7FE3E0"/>
                </a:solidFill>
                <a:latin typeface="DM Sans" pitchFamily="34" charset="0"/>
                <a:ea typeface="DM Sans" pitchFamily="34" charset="-122"/>
                <a:cs typeface="DM Sans" pitchFamily="34" charset="-120"/>
              </a:rPr>
              <a:t>Village network</a:t>
            </a:r>
            <a:endParaRPr lang="en-US" sz="2000" dirty="0"/>
          </a:p>
        </p:txBody>
      </p:sp>
      <p:sp>
        <p:nvSpPr>
          <p:cNvPr id="19" name="Text 15"/>
          <p:cNvSpPr/>
          <p:nvPr/>
        </p:nvSpPr>
        <p:spPr>
          <a:xfrm>
            <a:off x="8251587" y="4781550"/>
            <a:ext cx="2954589" cy="868680"/>
          </a:xfrm>
          <a:prstGeom prst="rect">
            <a:avLst/>
          </a:prstGeom>
          <a:noFill/>
          <a:ln/>
        </p:spPr>
        <p:txBody>
          <a:bodyPr wrap="square" lIns="0" tIns="0" rIns="0" bIns="0" rtlCol="0" anchor="t">
            <a:noAutofit/>
          </a:bodyPr>
          <a:lstStyle/>
          <a:p>
            <a:pPr algn="l" indent="0" marL="0">
              <a:lnSpc>
                <a:spcPts val="2100"/>
              </a:lnSpc>
              <a:buNone/>
            </a:pPr>
            <a:r>
              <a:rPr lang="en-US" sz="1500" dirty="0">
                <a:solidFill>
                  <a:srgbClr val="9DB0B5"/>
                </a:solidFill>
                <a:latin typeface="DM Sans" pitchFamily="34" charset="0"/>
                <a:ea typeface="DM Sans" pitchFamily="34" charset="-122"/>
                <a:cs typeface="DM Sans" pitchFamily="34" charset="-120"/>
              </a:rPr>
              <a:t>Local agents and clustered pickups cut cost per tonne and grow with every village.</a:t>
            </a:r>
            <a:endParaRPr lang="en-US" sz="1500" dirty="0"/>
          </a:p>
        </p:txBody>
      </p:sp>
      <p:sp>
        <p:nvSpPr>
          <p:cNvPr id="20" name="Text 16"/>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21" name="Text 1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04 / 06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A1F"/>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04 — HOW IT WORKS</a:t>
            </a:r>
            <a:endParaRPr lang="en-US" sz="1400" dirty="0"/>
          </a:p>
        </p:txBody>
      </p:sp>
      <p:sp>
        <p:nvSpPr>
          <p:cNvPr id="7" name="Text 3"/>
          <p:cNvSpPr/>
          <p:nvPr>
            <p:ph type="title"/>
          </p:nvPr>
        </p:nvSpPr>
        <p:spPr>
          <a:xfrm>
            <a:off x="812800" y="1874521"/>
            <a:ext cx="9810750" cy="612140"/>
          </a:xfrm>
          <a:prstGeom prst="rect">
            <a:avLst/>
          </a:prstGeom>
          <a:noFill/>
          <a:ln/>
        </p:spPr>
        <p:txBody>
          <a:bodyPr wrap="square" lIns="0" tIns="0" rIns="0" bIns="0" rtlCol="0" anchor="t">
            <a:no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The solution, step by step.</a:t>
            </a:r>
            <a:endParaRPr lang="en-US" sz="4200" dirty="0"/>
          </a:p>
        </p:txBody>
      </p:sp>
      <p:sp>
        <p:nvSpPr>
          <p:cNvPr id="8" name="Shape 4"/>
          <p:cNvSpPr/>
          <p:nvPr/>
        </p:nvSpPr>
        <p:spPr>
          <a:xfrm>
            <a:off x="813816" y="2697480"/>
            <a:ext cx="5257800" cy="1005840"/>
          </a:xfrm>
          <a:prstGeom prst="roundRect">
            <a:avLst>
              <a:gd name="adj" fmla="val 5934"/>
            </a:avLst>
          </a:prstGeom>
          <a:solidFill>
            <a:srgbClr val="0C1115"/>
          </a:solidFill>
          <a:ln w="6350">
            <a:solidFill>
              <a:srgbClr val="26343B"/>
            </a:solidFill>
            <a:prstDash val="solid"/>
          </a:ln>
        </p:spPr>
      </p:sp>
      <p:sp>
        <p:nvSpPr>
          <p:cNvPr id="9" name="Text 5"/>
          <p:cNvSpPr/>
          <p:nvPr/>
        </p:nvSpPr>
        <p:spPr>
          <a:xfrm>
            <a:off x="1069848" y="2852928"/>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01</a:t>
            </a:r>
            <a:endParaRPr lang="en-US" sz="1600" dirty="0"/>
          </a:p>
        </p:txBody>
      </p:sp>
      <p:sp>
        <p:nvSpPr>
          <p:cNvPr id="10" name="Text 6"/>
          <p:cNvSpPr/>
          <p:nvPr/>
        </p:nvSpPr>
        <p:spPr>
          <a:xfrm>
            <a:off x="1545336" y="2825496"/>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Workflow</a:t>
            </a:r>
            <a:endParaRPr lang="en-US" sz="2400" dirty="0"/>
          </a:p>
        </p:txBody>
      </p:sp>
      <p:sp>
        <p:nvSpPr>
          <p:cNvPr id="11" name="Text 7"/>
          <p:cNvSpPr/>
          <p:nvPr/>
        </p:nvSpPr>
        <p:spPr>
          <a:xfrm>
            <a:off x="1545336" y="3154680"/>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Photo + acres on WhatsApp → AI grade → live offers → accept → agent weighs → UPI paid.</a:t>
            </a:r>
            <a:endParaRPr lang="en-US" sz="1600" dirty="0"/>
          </a:p>
        </p:txBody>
      </p:sp>
      <p:sp>
        <p:nvSpPr>
          <p:cNvPr id="12" name="Shape 8"/>
          <p:cNvSpPr/>
          <p:nvPr/>
        </p:nvSpPr>
        <p:spPr>
          <a:xfrm>
            <a:off x="813816" y="3762756"/>
            <a:ext cx="5257800" cy="1005840"/>
          </a:xfrm>
          <a:prstGeom prst="roundRect">
            <a:avLst>
              <a:gd name="adj" fmla="val 5934"/>
            </a:avLst>
          </a:prstGeom>
          <a:solidFill>
            <a:srgbClr val="0C1115"/>
          </a:solidFill>
          <a:ln w="6350">
            <a:solidFill>
              <a:srgbClr val="26343B"/>
            </a:solidFill>
            <a:prstDash val="solid"/>
          </a:ln>
        </p:spPr>
      </p:sp>
      <p:sp>
        <p:nvSpPr>
          <p:cNvPr id="13" name="Text 9"/>
          <p:cNvSpPr/>
          <p:nvPr/>
        </p:nvSpPr>
        <p:spPr>
          <a:xfrm>
            <a:off x="1069848" y="3918204"/>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02</a:t>
            </a:r>
            <a:endParaRPr lang="en-US" sz="1600" dirty="0"/>
          </a:p>
        </p:txBody>
      </p:sp>
      <p:sp>
        <p:nvSpPr>
          <p:cNvPr id="14" name="Text 10"/>
          <p:cNvSpPr/>
          <p:nvPr/>
        </p:nvSpPr>
        <p:spPr>
          <a:xfrm>
            <a:off x="1545336" y="3890772"/>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Key features</a:t>
            </a:r>
            <a:endParaRPr lang="en-US" sz="2400" dirty="0"/>
          </a:p>
        </p:txBody>
      </p:sp>
      <p:sp>
        <p:nvSpPr>
          <p:cNvPr id="15" name="Text 11"/>
          <p:cNvSpPr/>
          <p:nvPr/>
        </p:nvSpPr>
        <p:spPr>
          <a:xfrm>
            <a:off x="1545336" y="4219956"/>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AI grade, live price vs mandi, Hindi voice, UPI via escrow, weighbridge check.</a:t>
            </a:r>
            <a:endParaRPr lang="en-US" sz="1600" dirty="0"/>
          </a:p>
        </p:txBody>
      </p:sp>
      <p:sp>
        <p:nvSpPr>
          <p:cNvPr id="16" name="Shape 12"/>
          <p:cNvSpPr/>
          <p:nvPr/>
        </p:nvSpPr>
        <p:spPr>
          <a:xfrm>
            <a:off x="813816" y="4828032"/>
            <a:ext cx="5257800" cy="1005840"/>
          </a:xfrm>
          <a:prstGeom prst="roundRect">
            <a:avLst>
              <a:gd name="adj" fmla="val 5934"/>
            </a:avLst>
          </a:prstGeom>
          <a:solidFill>
            <a:srgbClr val="0C1115"/>
          </a:solidFill>
          <a:ln w="6350">
            <a:solidFill>
              <a:srgbClr val="26343B"/>
            </a:solidFill>
            <a:prstDash val="solid"/>
          </a:ln>
        </p:spPr>
      </p:sp>
      <p:sp>
        <p:nvSpPr>
          <p:cNvPr id="17" name="Text 13"/>
          <p:cNvSpPr/>
          <p:nvPr/>
        </p:nvSpPr>
        <p:spPr>
          <a:xfrm>
            <a:off x="1069848" y="4983480"/>
            <a:ext cx="457200" cy="27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E3E0"/>
                </a:solidFill>
                <a:latin typeface="JetBrains Mono" pitchFamily="49" charset="0"/>
                <a:ea typeface="JetBrains Mono" pitchFamily="49" charset="-122"/>
                <a:cs typeface="JetBrains Mono" pitchFamily="49" charset="-120"/>
              </a:rPr>
              <a:t>03</a:t>
            </a:r>
            <a:endParaRPr lang="en-US" sz="1600" dirty="0"/>
          </a:p>
        </p:txBody>
      </p:sp>
      <p:sp>
        <p:nvSpPr>
          <p:cNvPr id="18" name="Text 14"/>
          <p:cNvSpPr/>
          <p:nvPr/>
        </p:nvSpPr>
        <p:spPr>
          <a:xfrm>
            <a:off x="1545336" y="4956048"/>
            <a:ext cx="4297680" cy="292608"/>
          </a:xfrm>
          <a:prstGeom prst="rect">
            <a:avLst/>
          </a:prstGeom>
          <a:noFill/>
          <a:ln/>
        </p:spPr>
        <p:txBody>
          <a:bodyPr wrap="square" lIns="0" tIns="0" rIns="0" bIns="0" rtlCol="0" anchor="t">
            <a:noAutofit/>
          </a:bodyPr>
          <a:lstStyle/>
          <a:p>
            <a:pPr algn="l" indent="0" marL="0">
              <a:lnSpc>
                <a:spcPts val="2200"/>
              </a:lnSpc>
              <a:buNone/>
            </a:pPr>
            <a:r>
              <a:rPr lang="en-US" sz="1800" b="1" dirty="0">
                <a:solidFill>
                  <a:srgbClr val="E9F1F0"/>
                </a:solidFill>
                <a:latin typeface="DM Sans" pitchFamily="34" charset="0"/>
                <a:ea typeface="DM Sans" pitchFamily="34" charset="-122"/>
                <a:cs typeface="DM Sans" pitchFamily="34" charset="-120"/>
              </a:rPr>
              <a:t>Tech stack</a:t>
            </a:r>
            <a:endParaRPr lang="en-US" sz="2400" dirty="0"/>
          </a:p>
        </p:txBody>
      </p:sp>
      <p:sp>
        <p:nvSpPr>
          <p:cNvPr id="19" name="Text 15"/>
          <p:cNvSpPr/>
          <p:nvPr/>
        </p:nvSpPr>
        <p:spPr>
          <a:xfrm>
            <a:off x="1545336" y="5285232"/>
            <a:ext cx="4297680" cy="457200"/>
          </a:xfrm>
          <a:prstGeom prst="rect">
            <a:avLst/>
          </a:prstGeom>
          <a:noFill/>
          <a:ln/>
        </p:spPr>
        <p:txBody>
          <a:bodyPr wrap="square" lIns="0" tIns="0" rIns="0" bIns="0" rtlCol="0" anchor="t">
            <a:noAutofit/>
          </a:bodyPr>
          <a:lstStyle/>
          <a:p>
            <a:pPr algn="l" indent="0" marL="0">
              <a:lnSpc>
                <a:spcPts val="1700"/>
              </a:lnSpc>
              <a:buNone/>
            </a:pPr>
            <a:r>
              <a:rPr lang="en-US" sz="1400" dirty="0">
                <a:solidFill>
                  <a:srgbClr val="9DB0B5"/>
                </a:solidFill>
                <a:latin typeface="DM Sans" pitchFamily="34" charset="0"/>
                <a:ea typeface="DM Sans" pitchFamily="34" charset="-122"/>
                <a:cs typeface="DM Sans" pitchFamily="34" charset="-120"/>
              </a:rPr>
              <a:t>Built: React, TypeScript, Leaflet, Web Speech API. Next: WhatsApp API, FastAPI, Supabase.</a:t>
            </a:r>
            <a:endParaRPr lang="en-US" sz="1600" dirty="0"/>
          </a:p>
        </p:txBody>
      </p:sp>
      <p:sp>
        <p:nvSpPr>
          <p:cNvPr id="20" name="Text 16"/>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21" name="Text 17"/>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05 / 06</a:t>
            </a:r>
            <a:endParaRPr lang="en-US" sz="1200" dirty="0"/>
          </a:p>
        </p:txBody>
      </p:sp>
      <p:pic>
        <p:nvPicPr>
          <p:cNvPr id="22" name="Prototype screenshot" descr="KhetKamai Live Demo after a sale: farmer chat with escrow notice and UPI payment, buyer marketplace, weighbridge verified in the activity feed"/>
          <p:cNvPicPr>
            <a:picLocks noChangeAspect="1"/>
          </p:cNvPicPr>
          <p:nvPr/>
        </p:nvPicPr>
        <p:blipFill>
          <a:blip r:embed="rId5"/>
          <a:stretch>
            <a:fillRect/>
          </a:stretch>
        </p:blipFill>
        <p:spPr>
          <a:xfrm>
            <a:off x="6309360" y="2697480"/>
            <a:ext cx="5074920" cy="2638005"/>
          </a:xfrm>
          <a:prstGeom prst="rect">
            <a:avLst/>
          </a:prstGeom>
          <a:ln w="12700">
            <a:solidFill>
              <a:srgbClr val="26343B"/>
            </a:solidFill>
          </a:ln>
        </p:spPr>
      </p:pic>
      <p:sp>
        <p:nvSpPr>
          <p:cNvPr id="23" name="Prototype caption"/>
          <p:cNvSpPr txBox="1"/>
          <p:nvPr/>
        </p:nvSpPr>
        <p:spPr>
          <a:xfrm>
            <a:off x="6309360" y="5472645"/>
            <a:ext cx="5074920" cy="548640"/>
          </a:xfrm>
          <a:prstGeom prst="rect">
            <a:avLst/>
          </a:prstGeom>
          <a:noFill/>
        </p:spPr>
        <p:txBody>
          <a:bodyPr wrap="square" lIns="0" rIns="0" tIns="0" bIns="0">
            <a:spAutoFit/>
          </a:bodyPr>
          <a:lstStyle/>
          <a:p>
            <a:r>
              <a:rPr sz="1200">
                <a:solidFill>
                  <a:srgbClr val="7FE3E0"/>
                </a:solidFill>
                <a:latin typeface="JetBrains Mono"/>
              </a:rPr>
              <a:t>WORKING PROTOTYPE · LIVE DEMO</a:t>
            </a:r>
          </a:p>
          <a:p>
            <a:r>
              <a:rPr sz="1300">
                <a:solidFill>
                  <a:srgbClr val="9DB0B5"/>
                </a:solidFill>
                <a:latin typeface="DM Sans"/>
              </a:rPr>
              <a:t>Escrow locked, farmer paid by UPI, factory weighbridge verified, all on one screen.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115"/>
        </a:solidFill>
      </p:bgPr>
    </p:bg>
    <p:spTree>
      <p:nvGrpSpPr>
        <p:cNvPr id="1" name=""/>
        <p:cNvGrpSpPr/>
        <p:nvPr/>
      </p:nvGrpSpPr>
      <p:grpSpPr>
        <a:xfrm>
          <a:off x="0" y="0"/>
          <a:ext cx="0" cy="0"/>
          <a:chOff x="0" y="0"/>
          <a:chExt cx="0" cy="0"/>
        </a:xfrm>
      </p:grpSpPr>
      <p:pic>
        <p:nvPicPr>
          <p:cNvPr id="2" name="Image 0" descr="CodeChef BVCOE Chapter logo">    </p:cNvPr>
          <p:cNvPicPr>
            <a:picLocks noChangeAspect="1"/>
          </p:cNvPicPr>
          <p:nvPr/>
        </p:nvPicPr>
        <p:blipFill>
          <a:blip r:embed="rId1"/>
          <a:srcRect l="0" r="0" t="0" b="0"/>
          <a:stretch/>
        </p:blipFill>
        <p:spPr>
          <a:xfrm>
            <a:off x="812800" y="355600"/>
            <a:ext cx="558800" cy="558800"/>
          </a:xfrm>
          <a:prstGeom prst="rect">
            <a:avLst/>
          </a:prstGeom>
        </p:spPr>
      </p:pic>
      <p:sp>
        <p:nvSpPr>
          <p:cNvPr id="3" name="Shape 0"/>
          <p:cNvSpPr/>
          <p:nvPr/>
        </p:nvSpPr>
        <p:spPr>
          <a:xfrm>
            <a:off x="1524000" y="406400"/>
            <a:ext cx="12700" cy="457200"/>
          </a:xfrm>
          <a:prstGeom prst="rect">
            <a:avLst/>
          </a:prstGeom>
          <a:solidFill>
            <a:srgbClr val="2A363D"/>
          </a:solidFill>
          <a:ln/>
        </p:spPr>
      </p:sp>
      <p:pic>
        <p:nvPicPr>
          <p:cNvPr id="4" name="Image 1" descr="Horizon logo">    </p:cNvPr>
          <p:cNvPicPr>
            <a:picLocks noChangeAspect="1"/>
          </p:cNvPicPr>
          <p:nvPr/>
        </p:nvPicPr>
        <p:blipFill>
          <a:blip r:embed="rId2"/>
          <a:srcRect l="0" r="0" t="-5109" b="-5109"/>
          <a:stretch/>
        </p:blipFill>
        <p:spPr>
          <a:xfrm>
            <a:off x="1676400" y="361950"/>
            <a:ext cx="685800" cy="552450"/>
          </a:xfrm>
          <a:prstGeom prst="rect">
            <a:avLst/>
          </a:prstGeom>
        </p:spPr>
      </p:pic>
      <p:sp>
        <p:nvSpPr>
          <p:cNvPr id="5" name="Text 1"/>
          <p:cNvSpPr/>
          <p:nvPr/>
        </p:nvSpPr>
        <p:spPr>
          <a:xfrm>
            <a:off x="6800850" y="5334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spc="200" kern="0" dirty="0">
                <a:solidFill>
                  <a:srgbClr val="7FE3E0"/>
                </a:solidFill>
                <a:latin typeface="JetBrains Mono" pitchFamily="49" charset="0"/>
                <a:ea typeface="JetBrains Mono" pitchFamily="49" charset="-122"/>
                <a:cs typeface="JetBrains Mono" pitchFamily="49" charset="-120"/>
              </a:rPr>
              <a:t>PROMPT-AE-THON 2026</a:t>
            </a:r>
            <a:endParaRPr lang="en-US" sz="1200" dirty="0"/>
          </a:p>
        </p:txBody>
      </p:sp>
      <p:sp>
        <p:nvSpPr>
          <p:cNvPr id="6" name="Text 2"/>
          <p:cNvSpPr/>
          <p:nvPr/>
        </p:nvSpPr>
        <p:spPr>
          <a:xfrm>
            <a:off x="812800" y="1270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FE3E0"/>
                </a:solidFill>
                <a:latin typeface="JetBrains Mono" pitchFamily="49" charset="0"/>
                <a:ea typeface="JetBrains Mono" pitchFamily="49" charset="-122"/>
                <a:cs typeface="JetBrains Mono" pitchFamily="49" charset="-120"/>
              </a:rPr>
              <a:t>05 — IMPACT AND NEXT STEPS</a:t>
            </a:r>
            <a:endParaRPr lang="en-US" sz="1400" dirty="0"/>
          </a:p>
        </p:txBody>
      </p:sp>
      <p:sp>
        <p:nvSpPr>
          <p:cNvPr id="7" name="Text 3"/>
          <p:cNvSpPr/>
          <p:nvPr>
            <p:ph type="title"/>
          </p:nvPr>
        </p:nvSpPr>
        <p:spPr>
          <a:xfrm>
            <a:off x="812800" y="1874521"/>
            <a:ext cx="9810750" cy="612140"/>
          </a:xfrm>
          <a:prstGeom prst="rect">
            <a:avLst/>
          </a:prstGeom>
          <a:noFill/>
          <a:ln/>
        </p:spPr>
        <p:txBody>
          <a:bodyPr wrap="square" lIns="0" tIns="0" rIns="0" bIns="0" rtlCol="0" anchor="t">
            <a:normAutofit/>
          </a:bodyPr>
          <a:lstStyle/>
          <a:p>
            <a:pPr algn="l" indent="0" marL="0">
              <a:lnSpc>
                <a:spcPts val="4620"/>
              </a:lnSpc>
              <a:buNone/>
            </a:pPr>
            <a:r>
              <a:rPr lang="en-US" sz="4200" b="1" i="0" spc="-100" kern="0" dirty="0">
                <a:solidFill>
                  <a:srgbClr val="E9F1F0"/>
                </a:solidFill>
                <a:latin typeface="DM Sans" pitchFamily="34" charset="0"/>
                <a:ea typeface="DM Sans" pitchFamily="34" charset="-122"/>
                <a:cs typeface="DM Sans" pitchFamily="34" charset="-120"/>
              </a:rPr>
              <a:t>The impact we aim for.</a:t>
            </a:r>
            <a:endParaRPr lang="en-US" sz="4200" dirty="0"/>
          </a:p>
        </p:txBody>
      </p:sp>
      <p:sp>
        <p:nvSpPr>
          <p:cNvPr id="8" name="Shape 4"/>
          <p:cNvSpPr/>
          <p:nvPr/>
        </p:nvSpPr>
        <p:spPr>
          <a:xfrm>
            <a:off x="815975" y="3681096"/>
            <a:ext cx="3380264" cy="1691640"/>
          </a:xfrm>
          <a:prstGeom prst="roundRect">
            <a:avLst>
              <a:gd name="adj" fmla="val 8355"/>
            </a:avLst>
          </a:prstGeom>
          <a:solidFill>
            <a:srgbClr val="121A1F"/>
          </a:solidFill>
          <a:ln w="6350">
            <a:solidFill>
              <a:srgbClr val="26343B"/>
            </a:solidFill>
            <a:prstDash val="solid"/>
          </a:ln>
        </p:spPr>
      </p:sp>
      <p:sp>
        <p:nvSpPr>
          <p:cNvPr id="9" name="Text 5"/>
          <p:cNvSpPr/>
          <p:nvPr/>
        </p:nvSpPr>
        <p:spPr>
          <a:xfrm>
            <a:off x="1071880" y="3937000"/>
            <a:ext cx="2954507"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2,000 t</a:t>
            </a:r>
            <a:endParaRPr lang="en-US" sz="4800" dirty="0"/>
          </a:p>
        </p:txBody>
      </p:sp>
      <p:sp>
        <p:nvSpPr>
          <p:cNvPr id="10" name="Text 6"/>
          <p:cNvSpPr/>
          <p:nvPr/>
        </p:nvSpPr>
        <p:spPr>
          <a:xfrm>
            <a:off x="1071880" y="4622800"/>
            <a:ext cx="2954507"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Residue saved from burning in the pilot (≈2,900 t CO₂)</a:t>
            </a:r>
            <a:endParaRPr lang="en-US" sz="1600" dirty="0"/>
          </a:p>
        </p:txBody>
      </p:sp>
      <p:sp>
        <p:nvSpPr>
          <p:cNvPr id="11" name="Shape 7"/>
          <p:cNvSpPr/>
          <p:nvPr/>
        </p:nvSpPr>
        <p:spPr>
          <a:xfrm>
            <a:off x="4405789" y="3681096"/>
            <a:ext cx="3380343" cy="1691640"/>
          </a:xfrm>
          <a:prstGeom prst="roundRect">
            <a:avLst>
              <a:gd name="adj" fmla="val 8355"/>
            </a:avLst>
          </a:prstGeom>
          <a:solidFill>
            <a:srgbClr val="121A1F"/>
          </a:solidFill>
          <a:ln w="6350">
            <a:solidFill>
              <a:srgbClr val="26343B"/>
            </a:solidFill>
            <a:prstDash val="solid"/>
          </a:ln>
        </p:spPr>
      </p:sp>
      <p:sp>
        <p:nvSpPr>
          <p:cNvPr id="12" name="Text 8"/>
          <p:cNvSpPr/>
          <p:nvPr/>
        </p:nvSpPr>
        <p:spPr>
          <a:xfrm>
            <a:off x="4661694" y="3937000"/>
            <a:ext cx="2954589"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Same day</a:t>
            </a:r>
            <a:endParaRPr lang="en-US" sz="4800" dirty="0"/>
          </a:p>
        </p:txBody>
      </p:sp>
      <p:sp>
        <p:nvSpPr>
          <p:cNvPr id="13" name="Text 9"/>
          <p:cNvSpPr/>
          <p:nvPr/>
        </p:nvSpPr>
        <p:spPr>
          <a:xfrm>
            <a:off x="4661694" y="4622800"/>
            <a:ext cx="2954589"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Photo to UPI payment in one pickup, before sowing</a:t>
            </a:r>
            <a:endParaRPr lang="en-US" sz="1600" dirty="0"/>
          </a:p>
        </p:txBody>
      </p:sp>
      <p:sp>
        <p:nvSpPr>
          <p:cNvPr id="14" name="Shape 10"/>
          <p:cNvSpPr/>
          <p:nvPr/>
        </p:nvSpPr>
        <p:spPr>
          <a:xfrm>
            <a:off x="7995682" y="3681096"/>
            <a:ext cx="3380343" cy="1691640"/>
          </a:xfrm>
          <a:prstGeom prst="roundRect">
            <a:avLst>
              <a:gd name="adj" fmla="val 8355"/>
            </a:avLst>
          </a:prstGeom>
          <a:solidFill>
            <a:srgbClr val="121A1F"/>
          </a:solidFill>
          <a:ln w="6350">
            <a:solidFill>
              <a:srgbClr val="26343B"/>
            </a:solidFill>
            <a:prstDash val="solid"/>
          </a:ln>
        </p:spPr>
      </p:sp>
      <p:sp>
        <p:nvSpPr>
          <p:cNvPr id="15" name="Text 11"/>
          <p:cNvSpPr/>
          <p:nvPr/>
        </p:nvSpPr>
        <p:spPr>
          <a:xfrm>
            <a:off x="8251587" y="3937000"/>
            <a:ext cx="2954589" cy="635000"/>
          </a:xfrm>
          <a:prstGeom prst="rect">
            <a:avLst/>
          </a:prstGeom>
          <a:noFill/>
          <a:ln/>
        </p:spPr>
        <p:txBody>
          <a:bodyPr wrap="square" lIns="0" tIns="0" rIns="0" bIns="0" rtlCol="0" anchor="t">
            <a:noAutofit/>
          </a:bodyPr>
          <a:lstStyle/>
          <a:p>
            <a:pPr algn="l" indent="0" marL="0">
              <a:lnSpc>
                <a:spcPts val="4800"/>
              </a:lnSpc>
              <a:buNone/>
            </a:pPr>
            <a:r>
              <a:rPr lang="en-US" sz="4800" b="1" dirty="0">
                <a:solidFill>
                  <a:srgbClr val="7FE3E0"/>
                </a:solidFill>
                <a:latin typeface="DM Sans" pitchFamily="34" charset="0"/>
                <a:ea typeface="DM Sans" pitchFamily="34" charset="-122"/>
                <a:cs typeface="DM Sans" pitchFamily="34" charset="-120"/>
              </a:rPr>
              <a:t>500 + 25</a:t>
            </a:r>
            <a:endParaRPr lang="en-US" sz="4800" dirty="0"/>
          </a:p>
        </p:txBody>
      </p:sp>
      <p:sp>
        <p:nvSpPr>
          <p:cNvPr id="16" name="Text 12"/>
          <p:cNvSpPr/>
          <p:nvPr/>
        </p:nvSpPr>
        <p:spPr>
          <a:xfrm>
            <a:off x="8251587" y="4622800"/>
            <a:ext cx="2954589" cy="548640"/>
          </a:xfrm>
          <a:prstGeom prst="rect">
            <a:avLst/>
          </a:prstGeom>
          <a:noFill/>
          <a:ln/>
        </p:spPr>
        <p:txBody>
          <a:bodyPr wrap="square" lIns="0" tIns="0" rIns="0" bIns="0" rtlCol="0" anchor="t">
            <a:noAutofit/>
          </a:bodyPr>
          <a:lstStyle/>
          <a:p>
            <a:pPr algn="l" indent="0" marL="0">
              <a:lnSpc>
                <a:spcPts val="2240"/>
              </a:lnSpc>
              <a:buNone/>
            </a:pPr>
            <a:r>
              <a:rPr lang="en-US" sz="1600" dirty="0">
                <a:solidFill>
                  <a:srgbClr val="9DB0B5"/>
                </a:solidFill>
                <a:latin typeface="DM Sans" pitchFamily="34" charset="0"/>
                <a:ea typeface="DM Sans" pitchFamily="34" charset="-122"/>
                <a:cs typeface="DM Sans" pitchFamily="34" charset="-120"/>
              </a:rPr>
              <a:t>Farmers earning ₹3–5k more a season, plus youth agent jobs</a:t>
            </a:r>
            <a:endParaRPr lang="en-US" sz="1600" dirty="0"/>
          </a:p>
        </p:txBody>
      </p:sp>
      <p:sp>
        <p:nvSpPr>
          <p:cNvPr id="17" name="Text 13"/>
          <p:cNvSpPr/>
          <p:nvPr/>
        </p:nvSpPr>
        <p:spPr>
          <a:xfrm>
            <a:off x="812800" y="5577840"/>
            <a:ext cx="10570464" cy="347472"/>
          </a:xfrm>
          <a:prstGeom prst="rect">
            <a:avLst/>
          </a:prstGeom>
          <a:noFill/>
          <a:ln/>
        </p:spPr>
        <p:txBody>
          <a:bodyPr wrap="square" lIns="0" tIns="0" rIns="0" bIns="0" rtlCol="0" anchor="t">
            <a:noAutofit/>
          </a:bodyPr>
          <a:lstStyle/>
          <a:p>
            <a:pPr algn="l" indent="0" marL="0">
              <a:lnSpc>
                <a:spcPts val="2520"/>
              </a:lnSpc>
              <a:buNone/>
            </a:pPr>
            <a:r>
              <a:rPr lang="en-US" sz="1800" dirty="0">
                <a:solidFill>
                  <a:srgbClr val="9DB0B5"/>
                </a:solidFill>
                <a:latin typeface="DM Sans" pitchFamily="34" charset="0"/>
                <a:ea typeface="DM Sans" pitchFamily="34" charset="-122"/>
                <a:cs typeface="DM Sans" pitchFamily="34" charset="-120"/>
              </a:rPr>
              <a:t>Next steps: real WhatsApp bot + vision model, live UPI, then a 1-village Kaithal pilot.</a:t>
            </a:r>
            <a:endParaRPr lang="en-US" sz="1800" dirty="0"/>
          </a:p>
        </p:txBody>
      </p:sp>
      <p:sp>
        <p:nvSpPr>
          <p:cNvPr id="18" name="Text 1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288"/>
                </a:solidFill>
                <a:latin typeface="DM Sans" pitchFamily="34" charset="0"/>
                <a:ea typeface="DM Sans" pitchFamily="34" charset="-122"/>
                <a:cs typeface="DM Sans" pitchFamily="34" charset="-120"/>
              </a:rPr>
              <a:t>CodeChef BVCOE Chapter × Horizon</a:t>
            </a:r>
            <a:endParaRPr lang="en-US" sz="1200" dirty="0"/>
          </a:p>
        </p:txBody>
      </p:sp>
      <p:sp>
        <p:nvSpPr>
          <p:cNvPr id="19" name="Text 15"/>
          <p:cNvSpPr/>
          <p:nvPr/>
        </p:nvSpPr>
        <p:spPr>
          <a:xfrm>
            <a:off x="9804400" y="6238239"/>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8288"/>
                </a:solidFill>
                <a:latin typeface="JetBrains Mono" pitchFamily="49" charset="0"/>
                <a:ea typeface="JetBrains Mono" pitchFamily="49" charset="-122"/>
                <a:cs typeface="JetBrains Mono" pitchFamily="49" charset="-120"/>
              </a:rPr>
              <a:t>06 / 06</a:t>
            </a:r>
            <a:endParaRPr lang="en-US" sz="1200" dirty="0"/>
          </a:p>
        </p:txBody>
      </p:sp>
    </p:spTree>
  </p:cSld>
  <p:clrMapOvr>
    <a:masterClrMapping/>
  </p:clrMapOvr>
</p:sld>
</file>

<file path=ppt/theme/theme1.xml><?xml version="1.0" encoding="utf-8"?>
<a:theme xmlns:a="http://schemas.openxmlformats.org/drawingml/2006/main" name="Prompt-ae-thon Project Presentation Template">
  <a:themeElements>
    <a:clrScheme name="Prompt-ae-thon Project Presentation Template">
      <a:dk1>
        <a:srgbClr val="0C1115"/>
      </a:dk1>
      <a:lt1>
        <a:srgbClr val="E9F1F0"/>
      </a:lt1>
      <a:dk2>
        <a:srgbClr val="22272B"/>
      </a:dk2>
      <a:lt2>
        <a:srgbClr val="B2B9B9"/>
      </a:lt2>
      <a:accent1>
        <a:srgbClr val="7FE3E0"/>
      </a:accent1>
      <a:accent2>
        <a:srgbClr val="16363E"/>
      </a:accent2>
      <a:accent3>
        <a:srgbClr val="9DB0B5"/>
      </a:accent3>
      <a:accent4>
        <a:srgbClr val="6F8288"/>
      </a:accent4>
      <a:accent5>
        <a:srgbClr val="2A363D"/>
      </a:accent5>
      <a:accent6>
        <a:srgbClr val="9AA0A6"/>
      </a:accent6>
      <a:hlink>
        <a:srgbClr val="0563C1"/>
      </a:hlink>
      <a:folHlink>
        <a:srgbClr val="954F72"/>
      </a:folHlink>
    </a:clrScheme>
    <a:fontScheme name="Prompt-ae-thon Project Presentation Templat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Prompt-ae-thon Project Presentation Template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2026-10-21T07:10:42Z</dcterms:created>
  <dcterms:modified xsi:type="dcterms:W3CDTF">2026-10-21T07:10:42Z</dcterms:modified>
</cp:coreProperties>
</file>